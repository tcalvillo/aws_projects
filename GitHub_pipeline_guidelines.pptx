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WeedHack is a Malware-as-a-Service campaign discovered by McAfee Labs. It spreads through fake Minecraft mod videos on YouTube and SEO-poisoned fake mod websites. Since January 2026 it has logged over 116,000 victim infections at a rate of 2,000–3,000 per day. A free tier is available to anyone with a Discord account; premium starts at $5/month and adds live webcam, screen sharing, and full remote shell access. The unusually low price point has drawn in teenagers who are using it not for financial theft but to bully and harass peers.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Infection spreads in two main ways: fake YouTube video reviews of Minecraft clients (one had 7,500+ views before removal) and fake mod websites optimised via SEO poisoning. The free tier already steals passwords and cookies from 36 browsers, Discord/Steam/Telegram credentials, 56 browser-based crypto wallets, screenshots, and system info. The $5/month premium tier adds live webcam access, full keyboard/mouse control, keylogging, and a reverse shell. A separate component hunts for Telegram credentials and crypto wallets every 5 minutes. McAfee observed teens sharing webcam recordings as 'trophies' in a Telegram channel (850+ members). The Telegram channel has since been taken down but McAfee continues monitoring for replacements. If your child is threatened by someone claiming to have hacked their device: do not comply, do not engage, tell a trusted adult, and contact law enforcement — this may constitute criminal conduct.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502920"/>
            <a:ext cx="8046720" cy="1005840"/>
          </a:xfrm>
          <a:prstGeom prst="rect">
            <a:avLst/>
          </a:prstGeom>
          <a:noFill/>
          <a:ln/>
        </p:spPr>
        <p:txBody>
          <a:bodyPr wrap="square" lIns="0" tIns="0" rIns="0" bIns="0" rtlCol="0" anchor="ctr"/>
          <a:lstStyle/>
          <a:p>
            <a:pPr algn="l" indent="0" marL="0">
              <a:buNone/>
            </a:pPr>
            <a:r>
              <a:rPr lang="en-US" sz="5200" b="1" dirty="0">
                <a:solidFill>
                  <a:srgbClr val="E94560"/>
                </a:solidFill>
                <a:latin typeface="Cambria" pitchFamily="34" charset="0"/>
                <a:ea typeface="Cambria" pitchFamily="34" charset="-122"/>
                <a:cs typeface="Cambria" pitchFamily="34" charset="-120"/>
              </a:rPr>
              <a:t>WeedHack</a:t>
            </a:r>
            <a:endParaRPr lang="en-US" sz="5200" dirty="0"/>
          </a:p>
        </p:txBody>
      </p:sp>
      <p:sp>
        <p:nvSpPr>
          <p:cNvPr id="3" name="Text 1"/>
          <p:cNvSpPr/>
          <p:nvPr/>
        </p:nvSpPr>
        <p:spPr>
          <a:xfrm>
            <a:off x="548640" y="1417320"/>
            <a:ext cx="8046720" cy="457200"/>
          </a:xfrm>
          <a:prstGeom prst="rect">
            <a:avLst/>
          </a:prstGeom>
          <a:noFill/>
          <a:ln/>
        </p:spPr>
        <p:txBody>
          <a:bodyPr wrap="square" lIns="0" tIns="0" rIns="0" bIns="0" rtlCol="0" anchor="ctr"/>
          <a:lstStyle/>
          <a:p>
            <a:pPr algn="l" indent="0" marL="0">
              <a:buNone/>
            </a:pPr>
            <a:r>
              <a:rPr lang="en-US" sz="2000" dirty="0">
                <a:solidFill>
                  <a:srgbClr val="C9D1E0"/>
                </a:solidFill>
                <a:latin typeface="Calibri" pitchFamily="34" charset="0"/>
                <a:ea typeface="Calibri" pitchFamily="34" charset="-122"/>
                <a:cs typeface="Calibri" pitchFamily="34" charset="-120"/>
              </a:rPr>
              <a:t>Malware-as-a-Service Targeting Minecraft Players</a:t>
            </a:r>
            <a:endParaRPr lang="en-US" sz="2000" dirty="0"/>
          </a:p>
        </p:txBody>
      </p:sp>
      <p:sp>
        <p:nvSpPr>
          <p:cNvPr id="4" name="Shape 2"/>
          <p:cNvSpPr/>
          <p:nvPr/>
        </p:nvSpPr>
        <p:spPr>
          <a:xfrm>
            <a:off x="548640" y="1993392"/>
            <a:ext cx="8046720" cy="27432"/>
          </a:xfrm>
          <a:prstGeom prst="rect">
            <a:avLst/>
          </a:prstGeom>
          <a:solidFill>
            <a:srgbClr val="E94560"/>
          </a:solidFill>
          <a:ln w="12700">
            <a:solidFill>
              <a:srgbClr val="E94560"/>
            </a:solidFill>
            <a:prstDash val="solid"/>
          </a:ln>
        </p:spPr>
      </p:sp>
      <p:sp>
        <p:nvSpPr>
          <p:cNvPr id="5" name="Shape 3"/>
          <p:cNvSpPr/>
          <p:nvPr/>
        </p:nvSpPr>
        <p:spPr>
          <a:xfrm>
            <a:off x="548640" y="2240280"/>
            <a:ext cx="2560320" cy="1417320"/>
          </a:xfrm>
          <a:prstGeom prst="roundRect">
            <a:avLst>
              <a:gd name="adj" fmla="val 7742"/>
            </a:avLst>
          </a:prstGeom>
          <a:solidFill>
            <a:srgbClr val="16213E"/>
          </a:solidFill>
          <a:ln/>
          <a:effectLst>
            <a:outerShdw sx="100000" sy="100000" kx="0" ky="0" algn="bl" rotWithShape="0" blurRad="127000" dist="38100" dir="2700000">
              <a:srgbClr val="000000">
                <a:alpha val="35000"/>
              </a:srgbClr>
            </a:outerShdw>
          </a:effectLst>
        </p:spPr>
      </p:sp>
      <p:sp>
        <p:nvSpPr>
          <p:cNvPr id="6" name="Text 4"/>
          <p:cNvSpPr/>
          <p:nvPr/>
        </p:nvSpPr>
        <p:spPr>
          <a:xfrm>
            <a:off x="548640" y="2331720"/>
            <a:ext cx="2560320" cy="685800"/>
          </a:xfrm>
          <a:prstGeom prst="rect">
            <a:avLst/>
          </a:prstGeom>
          <a:noFill/>
          <a:ln/>
        </p:spPr>
        <p:txBody>
          <a:bodyPr wrap="square" lIns="0" tIns="0" rIns="0" bIns="0" rtlCol="0" anchor="ctr"/>
          <a:lstStyle/>
          <a:p>
            <a:pPr algn="ctr" indent="0" marL="0">
              <a:buNone/>
            </a:pPr>
            <a:r>
              <a:rPr lang="en-US" sz="3000" b="1" dirty="0">
                <a:solidFill>
                  <a:srgbClr val="F5A623"/>
                </a:solidFill>
                <a:latin typeface="Cambria" pitchFamily="34" charset="0"/>
                <a:ea typeface="Cambria" pitchFamily="34" charset="-122"/>
                <a:cs typeface="Cambria" pitchFamily="34" charset="-120"/>
              </a:rPr>
              <a:t>116,000+</a:t>
            </a:r>
            <a:endParaRPr lang="en-US" sz="3000" dirty="0"/>
          </a:p>
        </p:txBody>
      </p:sp>
      <p:sp>
        <p:nvSpPr>
          <p:cNvPr id="7" name="Text 5"/>
          <p:cNvSpPr/>
          <p:nvPr/>
        </p:nvSpPr>
        <p:spPr>
          <a:xfrm>
            <a:off x="548640" y="2971800"/>
            <a:ext cx="2560320" cy="548640"/>
          </a:xfrm>
          <a:prstGeom prst="rect">
            <a:avLst/>
          </a:prstGeom>
          <a:noFill/>
          <a:ln/>
        </p:spPr>
        <p:txBody>
          <a:bodyPr wrap="square" lIns="0" tIns="0" rIns="0" bIns="0" rtlCol="0" anchor="ctr"/>
          <a:lstStyle/>
          <a:p>
            <a:pPr algn="ctr" indent="0" marL="0">
              <a:buNone/>
            </a:pPr>
            <a:r>
              <a:rPr lang="en-US" sz="1300" dirty="0">
                <a:solidFill>
                  <a:srgbClr val="C9D1E0"/>
                </a:solidFill>
                <a:latin typeface="Calibri" pitchFamily="34" charset="0"/>
                <a:ea typeface="Calibri" pitchFamily="34" charset="-122"/>
                <a:cs typeface="Calibri" pitchFamily="34" charset="-120"/>
              </a:rPr>
              <a:t>Victims since Jan 2026</a:t>
            </a:r>
            <a:endParaRPr lang="en-US" sz="1300" dirty="0"/>
          </a:p>
        </p:txBody>
      </p:sp>
      <p:sp>
        <p:nvSpPr>
          <p:cNvPr id="8" name="Shape 6"/>
          <p:cNvSpPr/>
          <p:nvPr/>
        </p:nvSpPr>
        <p:spPr>
          <a:xfrm>
            <a:off x="3383280" y="2240280"/>
            <a:ext cx="2560320" cy="1417320"/>
          </a:xfrm>
          <a:prstGeom prst="roundRect">
            <a:avLst>
              <a:gd name="adj" fmla="val 7742"/>
            </a:avLst>
          </a:prstGeom>
          <a:solidFill>
            <a:srgbClr val="16213E"/>
          </a:solidFill>
          <a:ln/>
          <a:effectLst>
            <a:outerShdw sx="100000" sy="100000" kx="0" ky="0" algn="bl" rotWithShape="0" blurRad="127000" dist="38100" dir="2700000">
              <a:srgbClr val="000000">
                <a:alpha val="35000"/>
              </a:srgbClr>
            </a:outerShdw>
          </a:effectLst>
        </p:spPr>
      </p:sp>
      <p:sp>
        <p:nvSpPr>
          <p:cNvPr id="9" name="Text 7"/>
          <p:cNvSpPr/>
          <p:nvPr/>
        </p:nvSpPr>
        <p:spPr>
          <a:xfrm>
            <a:off x="3383280" y="2331720"/>
            <a:ext cx="2560320" cy="685800"/>
          </a:xfrm>
          <a:prstGeom prst="rect">
            <a:avLst/>
          </a:prstGeom>
          <a:noFill/>
          <a:ln/>
        </p:spPr>
        <p:txBody>
          <a:bodyPr wrap="square" lIns="0" tIns="0" rIns="0" bIns="0" rtlCol="0" anchor="ctr"/>
          <a:lstStyle/>
          <a:p>
            <a:pPr algn="ctr" indent="0" marL="0">
              <a:buNone/>
            </a:pPr>
            <a:r>
              <a:rPr lang="en-US" sz="3000" b="1" dirty="0">
                <a:solidFill>
                  <a:srgbClr val="F5A623"/>
                </a:solidFill>
                <a:latin typeface="Cambria" pitchFamily="34" charset="0"/>
                <a:ea typeface="Cambria" pitchFamily="34" charset="-122"/>
                <a:cs typeface="Cambria" pitchFamily="34" charset="-120"/>
              </a:rPr>
              <a:t>2–3K</a:t>
            </a:r>
            <a:endParaRPr lang="en-US" sz="3000" dirty="0"/>
          </a:p>
        </p:txBody>
      </p:sp>
      <p:sp>
        <p:nvSpPr>
          <p:cNvPr id="10" name="Text 8"/>
          <p:cNvSpPr/>
          <p:nvPr/>
        </p:nvSpPr>
        <p:spPr>
          <a:xfrm>
            <a:off x="3383280" y="2971800"/>
            <a:ext cx="2560320" cy="548640"/>
          </a:xfrm>
          <a:prstGeom prst="rect">
            <a:avLst/>
          </a:prstGeom>
          <a:noFill/>
          <a:ln/>
        </p:spPr>
        <p:txBody>
          <a:bodyPr wrap="square" lIns="0" tIns="0" rIns="0" bIns="0" rtlCol="0" anchor="ctr"/>
          <a:lstStyle/>
          <a:p>
            <a:pPr algn="ctr" indent="0" marL="0">
              <a:buNone/>
            </a:pPr>
            <a:r>
              <a:rPr lang="en-US" sz="1300" dirty="0">
                <a:solidFill>
                  <a:srgbClr val="C9D1E0"/>
                </a:solidFill>
                <a:latin typeface="Calibri" pitchFamily="34" charset="0"/>
                <a:ea typeface="Calibri" pitchFamily="34" charset="-122"/>
                <a:cs typeface="Calibri" pitchFamily="34" charset="-120"/>
              </a:rPr>
              <a:t>New infections per day</a:t>
            </a:r>
            <a:endParaRPr lang="en-US" sz="1300" dirty="0"/>
          </a:p>
        </p:txBody>
      </p:sp>
      <p:sp>
        <p:nvSpPr>
          <p:cNvPr id="11" name="Shape 9"/>
          <p:cNvSpPr/>
          <p:nvPr/>
        </p:nvSpPr>
        <p:spPr>
          <a:xfrm>
            <a:off x="6217920" y="2240280"/>
            <a:ext cx="2560320" cy="1417320"/>
          </a:xfrm>
          <a:prstGeom prst="roundRect">
            <a:avLst>
              <a:gd name="adj" fmla="val 7742"/>
            </a:avLst>
          </a:prstGeom>
          <a:solidFill>
            <a:srgbClr val="16213E"/>
          </a:solidFill>
          <a:ln/>
          <a:effectLst>
            <a:outerShdw sx="100000" sy="100000" kx="0" ky="0" algn="bl" rotWithShape="0" blurRad="127000" dist="38100" dir="2700000">
              <a:srgbClr val="000000">
                <a:alpha val="35000"/>
              </a:srgbClr>
            </a:outerShdw>
          </a:effectLst>
        </p:spPr>
      </p:sp>
      <p:sp>
        <p:nvSpPr>
          <p:cNvPr id="12" name="Text 10"/>
          <p:cNvSpPr/>
          <p:nvPr/>
        </p:nvSpPr>
        <p:spPr>
          <a:xfrm>
            <a:off x="6217920" y="2331720"/>
            <a:ext cx="2560320" cy="685800"/>
          </a:xfrm>
          <a:prstGeom prst="rect">
            <a:avLst/>
          </a:prstGeom>
          <a:noFill/>
          <a:ln/>
        </p:spPr>
        <p:txBody>
          <a:bodyPr wrap="square" lIns="0" tIns="0" rIns="0" bIns="0" rtlCol="0" anchor="ctr"/>
          <a:lstStyle/>
          <a:p>
            <a:pPr algn="ctr" indent="0" marL="0">
              <a:buNone/>
            </a:pPr>
            <a:r>
              <a:rPr lang="en-US" sz="3000" b="1" dirty="0">
                <a:solidFill>
                  <a:srgbClr val="F5A623"/>
                </a:solidFill>
                <a:latin typeface="Cambria" pitchFamily="34" charset="0"/>
                <a:ea typeface="Cambria" pitchFamily="34" charset="-122"/>
                <a:cs typeface="Cambria" pitchFamily="34" charset="-120"/>
              </a:rPr>
              <a:t>$5/mo</a:t>
            </a:r>
            <a:endParaRPr lang="en-US" sz="3000" dirty="0"/>
          </a:p>
        </p:txBody>
      </p:sp>
      <p:sp>
        <p:nvSpPr>
          <p:cNvPr id="13" name="Text 11"/>
          <p:cNvSpPr/>
          <p:nvPr/>
        </p:nvSpPr>
        <p:spPr>
          <a:xfrm>
            <a:off x="6217920" y="2971800"/>
            <a:ext cx="2560320" cy="548640"/>
          </a:xfrm>
          <a:prstGeom prst="rect">
            <a:avLst/>
          </a:prstGeom>
          <a:noFill/>
          <a:ln/>
        </p:spPr>
        <p:txBody>
          <a:bodyPr wrap="square" lIns="0" tIns="0" rIns="0" bIns="0" rtlCol="0" anchor="ctr"/>
          <a:lstStyle/>
          <a:p>
            <a:pPr algn="ctr" indent="0" marL="0">
              <a:buNone/>
            </a:pPr>
            <a:r>
              <a:rPr lang="en-US" sz="1300" dirty="0">
                <a:solidFill>
                  <a:srgbClr val="C9D1E0"/>
                </a:solidFill>
                <a:latin typeface="Calibri" pitchFamily="34" charset="0"/>
                <a:ea typeface="Calibri" pitchFamily="34" charset="-122"/>
                <a:cs typeface="Calibri" pitchFamily="34" charset="-120"/>
              </a:rPr>
              <a:t>Premium tier entry price</a:t>
            </a:r>
            <a:endParaRPr lang="en-US" sz="1300" dirty="0"/>
          </a:p>
        </p:txBody>
      </p:sp>
      <p:sp>
        <p:nvSpPr>
          <p:cNvPr id="14" name="Text 12"/>
          <p:cNvSpPr/>
          <p:nvPr/>
        </p:nvSpPr>
        <p:spPr>
          <a:xfrm>
            <a:off x="548640" y="3840480"/>
            <a:ext cx="2011680" cy="320040"/>
          </a:xfrm>
          <a:prstGeom prst="rect">
            <a:avLst/>
          </a:prstGeom>
          <a:noFill/>
          <a:ln/>
        </p:spPr>
        <p:txBody>
          <a:bodyPr wrap="square" lIns="0" tIns="0" rIns="0" bIns="0" rtlCol="0" anchor="ctr"/>
          <a:lstStyle/>
          <a:p>
            <a:pPr algn="l" indent="0" marL="0">
              <a:buNone/>
            </a:pPr>
            <a:r>
              <a:rPr lang="en-US" sz="1300" b="1" dirty="0">
                <a:solidFill>
                  <a:srgbClr val="E94560"/>
                </a:solidFill>
                <a:latin typeface="Calibri" pitchFamily="34" charset="0"/>
                <a:ea typeface="Calibri" pitchFamily="34" charset="-122"/>
                <a:cs typeface="Calibri" pitchFamily="34" charset="-120"/>
              </a:rPr>
              <a:t>What is it?</a:t>
            </a:r>
            <a:endParaRPr lang="en-US" sz="1300" dirty="0"/>
          </a:p>
        </p:txBody>
      </p:sp>
      <p:sp>
        <p:nvSpPr>
          <p:cNvPr id="15" name="Text 13"/>
          <p:cNvSpPr/>
          <p:nvPr/>
        </p:nvSpPr>
        <p:spPr>
          <a:xfrm>
            <a:off x="548640" y="4160520"/>
            <a:ext cx="8046720" cy="777240"/>
          </a:xfrm>
          <a:prstGeom prst="rect">
            <a:avLst/>
          </a:prstGeom>
          <a:noFill/>
          <a:ln/>
        </p:spPr>
        <p:txBody>
          <a:bodyPr wrap="square" lIns="0" tIns="0" rIns="0" bIns="0" rtlCol="0" anchor="ctr"/>
          <a:lstStyle/>
          <a:p>
            <a:pPr algn="l" indent="0" marL="0">
              <a:buNone/>
            </a:pPr>
            <a:r>
              <a:rPr lang="en-US" sz="1350" dirty="0">
                <a:solidFill>
                  <a:srgbClr val="C9D1E0"/>
                </a:solidFill>
                <a:latin typeface="Calibri" pitchFamily="34" charset="0"/>
                <a:ea typeface="Calibri" pitchFamily="34" charset="-122"/>
                <a:cs typeface="Calibri" pitchFamily="34" charset="-120"/>
              </a:rPr>
              <a:t>WeedHack disguises itself as free Minecraft mods and game clients. Once installed, it steals credentials, hijacks accounts, and — for paying subscribers — grants live webcam and screen access. No hacking skills required.</a:t>
            </a:r>
            <a:endParaRPr lang="en-US" sz="1350" dirty="0"/>
          </a:p>
        </p:txBody>
      </p:sp>
      <p:sp>
        <p:nvSpPr>
          <p:cNvPr id="16" name="Text 14"/>
          <p:cNvSpPr/>
          <p:nvPr/>
        </p:nvSpPr>
        <p:spPr>
          <a:xfrm>
            <a:off x="548640" y="4846320"/>
            <a:ext cx="8046720" cy="228600"/>
          </a:xfrm>
          <a:prstGeom prst="rect">
            <a:avLst/>
          </a:prstGeom>
          <a:noFill/>
          <a:ln/>
        </p:spPr>
        <p:txBody>
          <a:bodyPr wrap="square" lIns="0" tIns="0" rIns="0" bIns="0" rtlCol="0" anchor="ctr"/>
          <a:lstStyle/>
          <a:p>
            <a:pPr algn="l" indent="0" marL="0">
              <a:buNone/>
            </a:pPr>
            <a:r>
              <a:rPr lang="en-US" sz="1000" dirty="0">
                <a:solidFill>
                  <a:srgbClr val="5A6275"/>
                </a:solidFill>
                <a:latin typeface="Calibri" pitchFamily="34" charset="0"/>
                <a:ea typeface="Calibri" pitchFamily="34" charset="-122"/>
                <a:cs typeface="Calibri" pitchFamily="34" charset="-120"/>
              </a:rPr>
              <a:t>Source: McAfee Labs / Security Now! #1082 · 06-09-26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6213E"/>
          </a:solidFill>
          <a:ln w="12700">
            <a:solidFill>
              <a:srgbClr val="16213E"/>
            </a:solidFill>
            <a:prstDash val="solid"/>
          </a:ln>
        </p:spPr>
      </p:sp>
      <p:sp>
        <p:nvSpPr>
          <p:cNvPr id="3" name="Text 1"/>
          <p:cNvSpPr/>
          <p:nvPr/>
        </p:nvSpPr>
        <p:spPr>
          <a:xfrm>
            <a:off x="457200" y="91440"/>
            <a:ext cx="8229600" cy="73152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How It Works &amp; Why It Matters</a:t>
            </a:r>
            <a:endParaRPr lang="en-US" sz="2600" dirty="0"/>
          </a:p>
        </p:txBody>
      </p:sp>
      <p:sp>
        <p:nvSpPr>
          <p:cNvPr id="4" name="Text 2"/>
          <p:cNvSpPr/>
          <p:nvPr/>
        </p:nvSpPr>
        <p:spPr>
          <a:xfrm>
            <a:off x="457200" y="1051560"/>
            <a:ext cx="3840480" cy="274320"/>
          </a:xfrm>
          <a:prstGeom prst="rect">
            <a:avLst/>
          </a:prstGeom>
          <a:noFill/>
          <a:ln/>
        </p:spPr>
        <p:txBody>
          <a:bodyPr wrap="square" lIns="0" tIns="0" rIns="0" bIns="0" rtlCol="0" anchor="ctr"/>
          <a:lstStyle/>
          <a:p>
            <a:pPr indent="0" marL="0">
              <a:buNone/>
            </a:pPr>
            <a:r>
              <a:rPr lang="en-US" sz="1100" b="1" spc="200" kern="0" dirty="0">
                <a:solidFill>
                  <a:srgbClr val="E94560"/>
                </a:solidFill>
                <a:latin typeface="Calibri" pitchFamily="34" charset="0"/>
                <a:ea typeface="Calibri" pitchFamily="34" charset="-122"/>
                <a:cs typeface="Calibri" pitchFamily="34" charset="-120"/>
              </a:rPr>
              <a:t>INFECTION CHAIN</a:t>
            </a:r>
            <a:endParaRPr lang="en-US" sz="1100" dirty="0"/>
          </a:p>
        </p:txBody>
      </p:sp>
      <p:sp>
        <p:nvSpPr>
          <p:cNvPr id="5" name="Shape 3"/>
          <p:cNvSpPr/>
          <p:nvPr/>
        </p:nvSpPr>
        <p:spPr>
          <a:xfrm>
            <a:off x="457200" y="1417320"/>
            <a:ext cx="3840480" cy="621792"/>
          </a:xfrm>
          <a:prstGeom prst="roundRect">
            <a:avLst>
              <a:gd name="adj" fmla="val 11765"/>
            </a:avLst>
          </a:prstGeom>
          <a:solidFill>
            <a:srgbClr val="FFFFFF"/>
          </a:solidFill>
          <a:ln/>
          <a:effectLst>
            <a:outerShdw sx="100000" sy="100000" kx="0" ky="0" algn="bl" rotWithShape="0" blurRad="63500" dist="12700" dir="2700000">
              <a:srgbClr val="000000">
                <a:alpha val="10000"/>
              </a:srgbClr>
            </a:outerShdw>
          </a:effectLst>
        </p:spPr>
      </p:sp>
      <p:sp>
        <p:nvSpPr>
          <p:cNvPr id="6" name="Text 4"/>
          <p:cNvSpPr/>
          <p:nvPr/>
        </p:nvSpPr>
        <p:spPr>
          <a:xfrm>
            <a:off x="594360" y="1453896"/>
            <a:ext cx="3657600" cy="228600"/>
          </a:xfrm>
          <a:prstGeom prst="rect">
            <a:avLst/>
          </a:prstGeom>
          <a:noFill/>
          <a:ln/>
        </p:spPr>
        <p:txBody>
          <a:bodyPr wrap="square" lIns="0" tIns="0" rIns="0" bIns="0" rtlCol="0" anchor="ctr"/>
          <a:lstStyle/>
          <a:p>
            <a:pPr indent="0" marL="0">
              <a:buNone/>
            </a:pPr>
            <a:r>
              <a:rPr lang="en-US" sz="1200" b="1" dirty="0">
                <a:solidFill>
                  <a:srgbClr val="16213E"/>
                </a:solidFill>
                <a:latin typeface="Calibri" pitchFamily="34" charset="0"/>
                <a:ea typeface="Calibri" pitchFamily="34" charset="-122"/>
                <a:cs typeface="Calibri" pitchFamily="34" charset="-120"/>
              </a:rPr>
              <a:t>① Fake content</a:t>
            </a:r>
            <a:endParaRPr lang="en-US" sz="1200" dirty="0"/>
          </a:p>
        </p:txBody>
      </p:sp>
      <p:sp>
        <p:nvSpPr>
          <p:cNvPr id="7" name="Text 5"/>
          <p:cNvSpPr/>
          <p:nvPr/>
        </p:nvSpPr>
        <p:spPr>
          <a:xfrm>
            <a:off x="594360" y="1673352"/>
            <a:ext cx="3657600" cy="32004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YouTube videos &amp; SEO-poisoned mod sites lure victims into downloading malicious files.</a:t>
            </a:r>
            <a:endParaRPr lang="en-US" sz="1100" dirty="0"/>
          </a:p>
        </p:txBody>
      </p:sp>
      <p:sp>
        <p:nvSpPr>
          <p:cNvPr id="8" name="Shape 6"/>
          <p:cNvSpPr/>
          <p:nvPr/>
        </p:nvSpPr>
        <p:spPr>
          <a:xfrm>
            <a:off x="457200" y="2112264"/>
            <a:ext cx="3840480" cy="621792"/>
          </a:xfrm>
          <a:prstGeom prst="roundRect">
            <a:avLst>
              <a:gd name="adj" fmla="val 11765"/>
            </a:avLst>
          </a:prstGeom>
          <a:solidFill>
            <a:srgbClr val="FFFFFF"/>
          </a:solidFill>
          <a:ln/>
          <a:effectLst>
            <a:outerShdw sx="100000" sy="100000" kx="0" ky="0" algn="bl" rotWithShape="0" blurRad="63500" dist="12700" dir="2700000">
              <a:srgbClr val="000000">
                <a:alpha val="10000"/>
              </a:srgbClr>
            </a:outerShdw>
          </a:effectLst>
        </p:spPr>
      </p:sp>
      <p:sp>
        <p:nvSpPr>
          <p:cNvPr id="9" name="Text 7"/>
          <p:cNvSpPr/>
          <p:nvPr/>
        </p:nvSpPr>
        <p:spPr>
          <a:xfrm>
            <a:off x="594360" y="2148840"/>
            <a:ext cx="3657600" cy="228600"/>
          </a:xfrm>
          <a:prstGeom prst="rect">
            <a:avLst/>
          </a:prstGeom>
          <a:noFill/>
          <a:ln/>
        </p:spPr>
        <p:txBody>
          <a:bodyPr wrap="square" lIns="0" tIns="0" rIns="0" bIns="0" rtlCol="0" anchor="ctr"/>
          <a:lstStyle/>
          <a:p>
            <a:pPr indent="0" marL="0">
              <a:buNone/>
            </a:pPr>
            <a:r>
              <a:rPr lang="en-US" sz="1200" b="1" dirty="0">
                <a:solidFill>
                  <a:srgbClr val="16213E"/>
                </a:solidFill>
                <a:latin typeface="Calibri" pitchFamily="34" charset="0"/>
                <a:ea typeface="Calibri" pitchFamily="34" charset="-122"/>
                <a:cs typeface="Calibri" pitchFamily="34" charset="-120"/>
              </a:rPr>
              <a:t>② First contact</a:t>
            </a:r>
            <a:endParaRPr lang="en-US" sz="1200" dirty="0"/>
          </a:p>
        </p:txBody>
      </p:sp>
      <p:sp>
        <p:nvSpPr>
          <p:cNvPr id="10" name="Text 8"/>
          <p:cNvSpPr/>
          <p:nvPr/>
        </p:nvSpPr>
        <p:spPr>
          <a:xfrm>
            <a:off x="594360" y="2368296"/>
            <a:ext cx="3657600" cy="32004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Malware runs silently, beacons via Ethereum blockchain to evade takedown.</a:t>
            </a:r>
            <a:endParaRPr lang="en-US" sz="1100" dirty="0"/>
          </a:p>
        </p:txBody>
      </p:sp>
      <p:sp>
        <p:nvSpPr>
          <p:cNvPr id="11" name="Shape 9"/>
          <p:cNvSpPr/>
          <p:nvPr/>
        </p:nvSpPr>
        <p:spPr>
          <a:xfrm>
            <a:off x="457200" y="2807208"/>
            <a:ext cx="3840480" cy="621792"/>
          </a:xfrm>
          <a:prstGeom prst="roundRect">
            <a:avLst>
              <a:gd name="adj" fmla="val 11765"/>
            </a:avLst>
          </a:prstGeom>
          <a:solidFill>
            <a:srgbClr val="FFFFFF"/>
          </a:solidFill>
          <a:ln/>
          <a:effectLst>
            <a:outerShdw sx="100000" sy="100000" kx="0" ky="0" algn="bl" rotWithShape="0" blurRad="63500" dist="12700" dir="2700000">
              <a:srgbClr val="000000">
                <a:alpha val="10000"/>
              </a:srgbClr>
            </a:outerShdw>
          </a:effectLst>
        </p:spPr>
      </p:sp>
      <p:sp>
        <p:nvSpPr>
          <p:cNvPr id="12" name="Text 10"/>
          <p:cNvSpPr/>
          <p:nvPr/>
        </p:nvSpPr>
        <p:spPr>
          <a:xfrm>
            <a:off x="594360" y="2843784"/>
            <a:ext cx="3657600" cy="228600"/>
          </a:xfrm>
          <a:prstGeom prst="rect">
            <a:avLst/>
          </a:prstGeom>
          <a:noFill/>
          <a:ln/>
        </p:spPr>
        <p:txBody>
          <a:bodyPr wrap="square" lIns="0" tIns="0" rIns="0" bIns="0" rtlCol="0" anchor="ctr"/>
          <a:lstStyle/>
          <a:p>
            <a:pPr indent="0" marL="0">
              <a:buNone/>
            </a:pPr>
            <a:r>
              <a:rPr lang="en-US" sz="1200" b="1" dirty="0">
                <a:solidFill>
                  <a:srgbClr val="16213E"/>
                </a:solidFill>
                <a:latin typeface="Calibri" pitchFamily="34" charset="0"/>
                <a:ea typeface="Calibri" pitchFamily="34" charset="-122"/>
                <a:cs typeface="Calibri" pitchFamily="34" charset="-120"/>
              </a:rPr>
              <a:t>③ Takes hold</a:t>
            </a:r>
            <a:endParaRPr lang="en-US" sz="1200" dirty="0"/>
          </a:p>
        </p:txBody>
      </p:sp>
      <p:sp>
        <p:nvSpPr>
          <p:cNvPr id="13" name="Text 11"/>
          <p:cNvSpPr/>
          <p:nvPr/>
        </p:nvSpPr>
        <p:spPr>
          <a:xfrm>
            <a:off x="594360" y="3063240"/>
            <a:ext cx="3657600" cy="32004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Disables Windows Defender, steals Discord tokens, browser passwords &amp; cookies.</a:t>
            </a:r>
            <a:endParaRPr lang="en-US" sz="1100" dirty="0"/>
          </a:p>
        </p:txBody>
      </p:sp>
      <p:sp>
        <p:nvSpPr>
          <p:cNvPr id="14" name="Shape 12"/>
          <p:cNvSpPr/>
          <p:nvPr/>
        </p:nvSpPr>
        <p:spPr>
          <a:xfrm>
            <a:off x="457200" y="3502152"/>
            <a:ext cx="3840480" cy="621792"/>
          </a:xfrm>
          <a:prstGeom prst="roundRect">
            <a:avLst>
              <a:gd name="adj" fmla="val 11765"/>
            </a:avLst>
          </a:prstGeom>
          <a:solidFill>
            <a:srgbClr val="FFFFFF"/>
          </a:solidFill>
          <a:ln/>
          <a:effectLst>
            <a:outerShdw sx="100000" sy="100000" kx="0" ky="0" algn="bl" rotWithShape="0" blurRad="63500" dist="12700" dir="2700000">
              <a:srgbClr val="000000">
                <a:alpha val="10000"/>
              </a:srgbClr>
            </a:outerShdw>
          </a:effectLst>
        </p:spPr>
      </p:sp>
      <p:sp>
        <p:nvSpPr>
          <p:cNvPr id="15" name="Text 13"/>
          <p:cNvSpPr/>
          <p:nvPr/>
        </p:nvSpPr>
        <p:spPr>
          <a:xfrm>
            <a:off x="594360" y="3538728"/>
            <a:ext cx="3657600" cy="228600"/>
          </a:xfrm>
          <a:prstGeom prst="rect">
            <a:avLst/>
          </a:prstGeom>
          <a:noFill/>
          <a:ln/>
        </p:spPr>
        <p:txBody>
          <a:bodyPr wrap="square" lIns="0" tIns="0" rIns="0" bIns="0" rtlCol="0" anchor="ctr"/>
          <a:lstStyle/>
          <a:p>
            <a:pPr indent="0" marL="0">
              <a:buNone/>
            </a:pPr>
            <a:r>
              <a:rPr lang="en-US" sz="1200" b="1" dirty="0">
                <a:solidFill>
                  <a:srgbClr val="16213E"/>
                </a:solidFill>
                <a:latin typeface="Calibri" pitchFamily="34" charset="0"/>
                <a:ea typeface="Calibri" pitchFamily="34" charset="-122"/>
                <a:cs typeface="Calibri" pitchFamily="34" charset="-120"/>
              </a:rPr>
              <a:t>④ Persistence</a:t>
            </a:r>
            <a:endParaRPr lang="en-US" sz="1200" dirty="0"/>
          </a:p>
        </p:txBody>
      </p:sp>
      <p:sp>
        <p:nvSpPr>
          <p:cNvPr id="16" name="Text 14"/>
          <p:cNvSpPr/>
          <p:nvPr/>
        </p:nvSpPr>
        <p:spPr>
          <a:xfrm>
            <a:off x="594360" y="3758184"/>
            <a:ext cx="3657600" cy="32004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Installs a hidden scheduled task with highest privileges; auto-restarts on login.</a:t>
            </a:r>
            <a:endParaRPr lang="en-US" sz="1100" dirty="0"/>
          </a:p>
        </p:txBody>
      </p:sp>
      <p:sp>
        <p:nvSpPr>
          <p:cNvPr id="17" name="Shape 15"/>
          <p:cNvSpPr/>
          <p:nvPr/>
        </p:nvSpPr>
        <p:spPr>
          <a:xfrm>
            <a:off x="457200" y="4197096"/>
            <a:ext cx="3840480" cy="621792"/>
          </a:xfrm>
          <a:prstGeom prst="roundRect">
            <a:avLst>
              <a:gd name="adj" fmla="val 11765"/>
            </a:avLst>
          </a:prstGeom>
          <a:solidFill>
            <a:srgbClr val="FFFFFF"/>
          </a:solidFill>
          <a:ln/>
          <a:effectLst>
            <a:outerShdw sx="100000" sy="100000" kx="0" ky="0" algn="bl" rotWithShape="0" blurRad="63500" dist="12700" dir="2700000">
              <a:srgbClr val="000000">
                <a:alpha val="10000"/>
              </a:srgbClr>
            </a:outerShdw>
          </a:effectLst>
        </p:spPr>
      </p:sp>
      <p:sp>
        <p:nvSpPr>
          <p:cNvPr id="18" name="Text 16"/>
          <p:cNvSpPr/>
          <p:nvPr/>
        </p:nvSpPr>
        <p:spPr>
          <a:xfrm>
            <a:off x="594360" y="4233672"/>
            <a:ext cx="3657600" cy="228600"/>
          </a:xfrm>
          <a:prstGeom prst="rect">
            <a:avLst/>
          </a:prstGeom>
          <a:noFill/>
          <a:ln/>
        </p:spPr>
        <p:txBody>
          <a:bodyPr wrap="square" lIns="0" tIns="0" rIns="0" bIns="0" rtlCol="0" anchor="ctr"/>
          <a:lstStyle/>
          <a:p>
            <a:pPr indent="0" marL="0">
              <a:buNone/>
            </a:pPr>
            <a:r>
              <a:rPr lang="en-US" sz="1200" b="1" dirty="0">
                <a:solidFill>
                  <a:srgbClr val="16213E"/>
                </a:solidFill>
                <a:latin typeface="Calibri" pitchFamily="34" charset="0"/>
                <a:ea typeface="Calibri" pitchFamily="34" charset="-122"/>
                <a:cs typeface="Calibri" pitchFamily="34" charset="-120"/>
              </a:rPr>
              <a:t>⑤ Full access (premium)</a:t>
            </a:r>
            <a:endParaRPr lang="en-US" sz="1200" dirty="0"/>
          </a:p>
        </p:txBody>
      </p:sp>
      <p:sp>
        <p:nvSpPr>
          <p:cNvPr id="19" name="Text 17"/>
          <p:cNvSpPr/>
          <p:nvPr/>
        </p:nvSpPr>
        <p:spPr>
          <a:xfrm>
            <a:off x="594360" y="4453128"/>
            <a:ext cx="3657600" cy="32004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Live screen + webcam, keylogging, reverse shell, remote file management.</a:t>
            </a:r>
            <a:endParaRPr lang="en-US" sz="1100" dirty="0"/>
          </a:p>
        </p:txBody>
      </p:sp>
      <p:sp>
        <p:nvSpPr>
          <p:cNvPr id="20" name="Text 18"/>
          <p:cNvSpPr/>
          <p:nvPr/>
        </p:nvSpPr>
        <p:spPr>
          <a:xfrm>
            <a:off x="4663440" y="1051560"/>
            <a:ext cx="4023360" cy="274320"/>
          </a:xfrm>
          <a:prstGeom prst="rect">
            <a:avLst/>
          </a:prstGeom>
          <a:noFill/>
          <a:ln/>
        </p:spPr>
        <p:txBody>
          <a:bodyPr wrap="square" lIns="0" tIns="0" rIns="0" bIns="0" rtlCol="0" anchor="ctr"/>
          <a:lstStyle/>
          <a:p>
            <a:pPr indent="0" marL="0">
              <a:buNone/>
            </a:pPr>
            <a:r>
              <a:rPr lang="en-US" sz="1100" b="1" spc="200" kern="0" dirty="0">
                <a:solidFill>
                  <a:srgbClr val="E94560"/>
                </a:solidFill>
                <a:latin typeface="Calibri" pitchFamily="34" charset="0"/>
                <a:ea typeface="Calibri" pitchFamily="34" charset="-122"/>
                <a:cs typeface="Calibri" pitchFamily="34" charset="-120"/>
              </a:rPr>
              <a:t>KEY CONCERNS</a:t>
            </a:r>
            <a:endParaRPr lang="en-US" sz="1100" dirty="0"/>
          </a:p>
        </p:txBody>
      </p:sp>
      <p:sp>
        <p:nvSpPr>
          <p:cNvPr id="21" name="Shape 19"/>
          <p:cNvSpPr/>
          <p:nvPr/>
        </p:nvSpPr>
        <p:spPr>
          <a:xfrm>
            <a:off x="4663440" y="1417320"/>
            <a:ext cx="4023360" cy="804672"/>
          </a:xfrm>
          <a:prstGeom prst="roundRect">
            <a:avLst>
              <a:gd name="adj" fmla="val 9091"/>
            </a:avLst>
          </a:prstGeom>
          <a:solidFill>
            <a:srgbClr val="FFFFFF"/>
          </a:solidFill>
          <a:ln/>
          <a:effectLst>
            <a:outerShdw sx="100000" sy="100000" kx="0" ky="0" algn="bl" rotWithShape="0" blurRad="63500" dist="12700" dir="2700000">
              <a:srgbClr val="000000">
                <a:alpha val="10000"/>
              </a:srgbClr>
            </a:outerShdw>
          </a:effectLst>
        </p:spPr>
      </p:sp>
      <p:sp>
        <p:nvSpPr>
          <p:cNvPr id="22" name="Text 20"/>
          <p:cNvSpPr/>
          <p:nvPr/>
        </p:nvSpPr>
        <p:spPr>
          <a:xfrm>
            <a:off x="4800600" y="1472184"/>
            <a:ext cx="3749040" cy="256032"/>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  Teen attackers</a:t>
            </a:r>
            <a:endParaRPr lang="en-US" sz="1250" dirty="0"/>
          </a:p>
        </p:txBody>
      </p:sp>
      <p:sp>
        <p:nvSpPr>
          <p:cNvPr id="23" name="Text 21"/>
          <p:cNvSpPr/>
          <p:nvPr/>
        </p:nvSpPr>
        <p:spPr>
          <a:xfrm>
            <a:off x="4800600" y="1728216"/>
            <a:ext cx="3749040" cy="420624"/>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Many subscribers appear to be teens using tools not for profit but to harass and bully peers online.</a:t>
            </a:r>
            <a:endParaRPr lang="en-US" sz="1150" dirty="0"/>
          </a:p>
        </p:txBody>
      </p:sp>
      <p:sp>
        <p:nvSpPr>
          <p:cNvPr id="24" name="Shape 22"/>
          <p:cNvSpPr/>
          <p:nvPr/>
        </p:nvSpPr>
        <p:spPr>
          <a:xfrm>
            <a:off x="4663440" y="2304288"/>
            <a:ext cx="4023360" cy="804672"/>
          </a:xfrm>
          <a:prstGeom prst="roundRect">
            <a:avLst>
              <a:gd name="adj" fmla="val 9091"/>
            </a:avLst>
          </a:prstGeom>
          <a:solidFill>
            <a:srgbClr val="FFFFFF"/>
          </a:solidFill>
          <a:ln/>
          <a:effectLst>
            <a:outerShdw sx="100000" sy="100000" kx="0" ky="0" algn="bl" rotWithShape="0" blurRad="63500" dist="12700" dir="2700000">
              <a:srgbClr val="000000">
                <a:alpha val="10000"/>
              </a:srgbClr>
            </a:outerShdw>
          </a:effectLst>
        </p:spPr>
      </p:sp>
      <p:sp>
        <p:nvSpPr>
          <p:cNvPr id="25" name="Text 23"/>
          <p:cNvSpPr/>
          <p:nvPr/>
        </p:nvSpPr>
        <p:spPr>
          <a:xfrm>
            <a:off x="4800600" y="2359152"/>
            <a:ext cx="3749040" cy="256032"/>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  Webcam as a trophy</a:t>
            </a:r>
            <a:endParaRPr lang="en-US" sz="1250" dirty="0"/>
          </a:p>
        </p:txBody>
      </p:sp>
      <p:sp>
        <p:nvSpPr>
          <p:cNvPr id="26" name="Text 24"/>
          <p:cNvSpPr/>
          <p:nvPr/>
        </p:nvSpPr>
        <p:spPr>
          <a:xfrm>
            <a:off x="4800600" y="2615184"/>
            <a:ext cx="3749040" cy="420624"/>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Researchers observed victims recorded via webcam without consent and recordings shared in Telegram channels.</a:t>
            </a:r>
            <a:endParaRPr lang="en-US" sz="1150" dirty="0"/>
          </a:p>
        </p:txBody>
      </p:sp>
      <p:sp>
        <p:nvSpPr>
          <p:cNvPr id="27" name="Shape 25"/>
          <p:cNvSpPr/>
          <p:nvPr/>
        </p:nvSpPr>
        <p:spPr>
          <a:xfrm>
            <a:off x="4663440" y="3191256"/>
            <a:ext cx="4023360" cy="804672"/>
          </a:xfrm>
          <a:prstGeom prst="roundRect">
            <a:avLst>
              <a:gd name="adj" fmla="val 9091"/>
            </a:avLst>
          </a:prstGeom>
          <a:solidFill>
            <a:srgbClr val="FFFFFF"/>
          </a:solidFill>
          <a:ln/>
          <a:effectLst>
            <a:outerShdw sx="100000" sy="100000" kx="0" ky="0" algn="bl" rotWithShape="0" blurRad="63500" dist="12700" dir="2700000">
              <a:srgbClr val="000000">
                <a:alpha val="10000"/>
              </a:srgbClr>
            </a:outerShdw>
          </a:effectLst>
        </p:spPr>
      </p:sp>
      <p:sp>
        <p:nvSpPr>
          <p:cNvPr id="28" name="Text 26"/>
          <p:cNvSpPr/>
          <p:nvPr/>
        </p:nvSpPr>
        <p:spPr>
          <a:xfrm>
            <a:off x="4800600" y="3246120"/>
            <a:ext cx="3749040" cy="256032"/>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  Open-web dashboard</a:t>
            </a:r>
            <a:endParaRPr lang="en-US" sz="1250" dirty="0"/>
          </a:p>
        </p:txBody>
      </p:sp>
      <p:sp>
        <p:nvSpPr>
          <p:cNvPr id="29" name="Text 27"/>
          <p:cNvSpPr/>
          <p:nvPr/>
        </p:nvSpPr>
        <p:spPr>
          <a:xfrm>
            <a:off x="4800600" y="3502152"/>
            <a:ext cx="3749040" cy="420624"/>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Operates a polished dashboard on the public Internet (not dark web). Payments: Bitcoin &amp; Litecoin.</a:t>
            </a:r>
            <a:endParaRPr lang="en-US" sz="1150" dirty="0"/>
          </a:p>
        </p:txBody>
      </p:sp>
      <p:sp>
        <p:nvSpPr>
          <p:cNvPr id="30" name="Shape 28"/>
          <p:cNvSpPr/>
          <p:nvPr/>
        </p:nvSpPr>
        <p:spPr>
          <a:xfrm>
            <a:off x="4663440" y="4078224"/>
            <a:ext cx="4023360" cy="804672"/>
          </a:xfrm>
          <a:prstGeom prst="roundRect">
            <a:avLst>
              <a:gd name="adj" fmla="val 9091"/>
            </a:avLst>
          </a:prstGeom>
          <a:solidFill>
            <a:srgbClr val="FFFFFF"/>
          </a:solidFill>
          <a:ln/>
          <a:effectLst>
            <a:outerShdw sx="100000" sy="100000" kx="0" ky="0" algn="bl" rotWithShape="0" blurRad="63500" dist="12700" dir="2700000">
              <a:srgbClr val="000000">
                <a:alpha val="10000"/>
              </a:srgbClr>
            </a:outerShdw>
          </a:effectLst>
        </p:spPr>
      </p:sp>
      <p:sp>
        <p:nvSpPr>
          <p:cNvPr id="31" name="Text 29"/>
          <p:cNvSpPr/>
          <p:nvPr/>
        </p:nvSpPr>
        <p:spPr>
          <a:xfrm>
            <a:off x="4800600" y="4133088"/>
            <a:ext cx="3749040" cy="256032"/>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  What to do if targeted</a:t>
            </a:r>
            <a:endParaRPr lang="en-US" sz="1250" dirty="0"/>
          </a:p>
        </p:txBody>
      </p:sp>
      <p:sp>
        <p:nvSpPr>
          <p:cNvPr id="32" name="Text 30"/>
          <p:cNvSpPr/>
          <p:nvPr/>
        </p:nvSpPr>
        <p:spPr>
          <a:xfrm>
            <a:off x="4800600" y="4389120"/>
            <a:ext cx="3749040" cy="420624"/>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Do NOT comply. Tell a trusted adult. Contact local law enforcement. Do not engage or negotiate.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WeedHack – Security Now #1082</dc:title>
  <dc:subject>PptxGenJS Presentation</dc:subject>
  <dc:creator>PptxGenJS</dc:creator>
  <cp:lastModifiedBy>PptxGenJS</cp:lastModifiedBy>
  <cp:revision>1</cp:revision>
  <dcterms:created xsi:type="dcterms:W3CDTF">2026-06-15T12:14:35Z</dcterms:created>
  <dcterms:modified xsi:type="dcterms:W3CDTF">2026-06-15T12:14:35Z</dcterms:modified>
</cp:coreProperties>
</file>